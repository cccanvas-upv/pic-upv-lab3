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9" r:id="rId3"/>
    <p:sldId id="290" r:id="rId4"/>
    <p:sldId id="295" r:id="rId5"/>
    <p:sldId id="296" r:id="rId6"/>
    <p:sldId id="288" r:id="rId7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oria Mico Cabanes" userId="9404fec7-0ff0-4d1b-9bd1-39548573252c" providerId="ADAL" clId="{6A2361C6-82F5-4E9D-BEC5-5022CE3ADC5F}"/>
    <pc:docChg chg="undo redo custSel delSld modSld">
      <pc:chgData name="Gloria Mico Cabanes" userId="9404fec7-0ff0-4d1b-9bd1-39548573252c" providerId="ADAL" clId="{6A2361C6-82F5-4E9D-BEC5-5022CE3ADC5F}" dt="2025-02-17T11:32:27.684" v="500" actId="2710"/>
      <pc:docMkLst>
        <pc:docMk/>
      </pc:docMkLst>
      <pc:sldChg chg="modSp mod">
        <pc:chgData name="Gloria Mico Cabanes" userId="9404fec7-0ff0-4d1b-9bd1-39548573252c" providerId="ADAL" clId="{6A2361C6-82F5-4E9D-BEC5-5022CE3ADC5F}" dt="2025-02-17T05:21:24.772" v="41" actId="20577"/>
        <pc:sldMkLst>
          <pc:docMk/>
          <pc:sldMk cId="0" sldId="256"/>
        </pc:sldMkLst>
      </pc:sldChg>
      <pc:sldChg chg="addSp delSp modSp mod">
        <pc:chgData name="Gloria Mico Cabanes" userId="9404fec7-0ff0-4d1b-9bd1-39548573252c" providerId="ADAL" clId="{6A2361C6-82F5-4E9D-BEC5-5022CE3ADC5F}" dt="2025-02-17T06:26:14.678" v="485" actId="6549"/>
        <pc:sldMkLst>
          <pc:docMk/>
          <pc:sldMk cId="560234623" sldId="289"/>
        </pc:sldMkLst>
      </pc:sldChg>
      <pc:sldChg chg="addSp delSp modSp mod">
        <pc:chgData name="Gloria Mico Cabanes" userId="9404fec7-0ff0-4d1b-9bd1-39548573252c" providerId="ADAL" clId="{6A2361C6-82F5-4E9D-BEC5-5022CE3ADC5F}" dt="2025-02-17T11:32:27.684" v="500" actId="2710"/>
        <pc:sldMkLst>
          <pc:docMk/>
          <pc:sldMk cId="730501311" sldId="290"/>
        </pc:sldMkLst>
      </pc:sldChg>
      <pc:sldChg chg="del">
        <pc:chgData name="Gloria Mico Cabanes" userId="9404fec7-0ff0-4d1b-9bd1-39548573252c" providerId="ADAL" clId="{6A2361C6-82F5-4E9D-BEC5-5022CE3ADC5F}" dt="2025-02-17T06:25:44.002" v="472" actId="47"/>
        <pc:sldMkLst>
          <pc:docMk/>
          <pc:sldMk cId="3660438245" sldId="293"/>
        </pc:sldMkLst>
      </pc:sldChg>
      <pc:sldChg chg="addSp delSp modSp mod">
        <pc:chgData name="Gloria Mico Cabanes" userId="9404fec7-0ff0-4d1b-9bd1-39548573252c" providerId="ADAL" clId="{6A2361C6-82F5-4E9D-BEC5-5022CE3ADC5F}" dt="2025-02-17T06:26:26.832" v="489"/>
        <pc:sldMkLst>
          <pc:docMk/>
          <pc:sldMk cId="2337098194" sldId="295"/>
        </pc:sldMkLst>
      </pc:sldChg>
      <pc:sldChg chg="addSp delSp modSp mod">
        <pc:chgData name="Gloria Mico Cabanes" userId="9404fec7-0ff0-4d1b-9bd1-39548573252c" providerId="ADAL" clId="{6A2361C6-82F5-4E9D-BEC5-5022CE3ADC5F}" dt="2025-02-17T06:26:30.843" v="491"/>
        <pc:sldMkLst>
          <pc:docMk/>
          <pc:sldMk cId="3666436811" sldId="296"/>
        </pc:sldMkLst>
      </pc:sldChg>
    </pc:docChg>
  </pc:docChgLst>
  <pc:docChgLst>
    <pc:chgData name="Gloria Mico Cabanes" userId="9404fec7-0ff0-4d1b-9bd1-39548573252c" providerId="ADAL" clId="{EECF61F7-132A-4994-9CF3-CED7D4761E4A}"/>
    <pc:docChg chg="modSld">
      <pc:chgData name="Gloria Mico Cabanes" userId="9404fec7-0ff0-4d1b-9bd1-39548573252c" providerId="ADAL" clId="{EECF61F7-132A-4994-9CF3-CED7D4761E4A}" dt="2025-10-27T16:22:20.117" v="2" actId="20577"/>
      <pc:docMkLst>
        <pc:docMk/>
      </pc:docMkLst>
      <pc:sldChg chg="modSp mod">
        <pc:chgData name="Gloria Mico Cabanes" userId="9404fec7-0ff0-4d1b-9bd1-39548573252c" providerId="ADAL" clId="{EECF61F7-132A-4994-9CF3-CED7D4761E4A}" dt="2025-10-27T16:22:20.117" v="2" actId="20577"/>
        <pc:sldMkLst>
          <pc:docMk/>
          <pc:sldMk cId="0" sldId="256"/>
        </pc:sldMkLst>
        <pc:spChg chg="mod">
          <ac:chgData name="Gloria Mico Cabanes" userId="9404fec7-0ff0-4d1b-9bd1-39548573252c" providerId="ADAL" clId="{EECF61F7-132A-4994-9CF3-CED7D4761E4A}" dt="2025-10-27T16:22:20.117" v="2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2A21-C6A2-C5B9-2DCA-37546170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C95D30-E081-8AAE-817B-40A03306A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6FC665-BCC5-C316-DC0F-D9DFBC444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B17553-B500-6323-E98B-E84BE7272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767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DBC6-7EB2-AE62-0F4B-A0A0672A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8084C1-6F54-16C8-7D2F-21346675C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869975-D523-6D26-7FF4-105B03035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561EB6-B461-33D1-E122-96F4761D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77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4A8576ED-D269-3C6B-30E8-402BA30F474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486400" y="6465069"/>
            <a:ext cx="16764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 dirty="0"/>
              <a:t>LAB 0.3. INTERFEROMETERS</a:t>
            </a:r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 dirty="0"/>
              <a:t>LAB 0.3. INTERFEROMETERS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085B3A29-7AE1-3DAD-3BD8-A0E9707EE8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486400" y="6465069"/>
            <a:ext cx="16764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 dirty="0"/>
              <a:t>LAB 0.3. INTERFEROMETERS</a:t>
            </a:r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86400" y="6465069"/>
            <a:ext cx="16764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 dirty="0"/>
              <a:t>LAB 0.3. INTERFEROMETERS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82993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5. </a:t>
            </a:r>
            <a:r>
              <a:rPr lang="es-ES" sz="3200" b="1" dirty="0" err="1">
                <a:latin typeface="Lucida Sans"/>
                <a:cs typeface="Lucida Sans"/>
              </a:rPr>
              <a:t>Resonators</a:t>
            </a:r>
            <a:r>
              <a:rPr lang="es-ES" sz="3200" b="1" dirty="0">
                <a:latin typeface="Lucida Sans"/>
                <a:cs typeface="Lucida Sans"/>
              </a:rPr>
              <a:t> - RR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dirty="0">
                <a:solidFill>
                  <a:sysClr val="windowText" lastClr="000000"/>
                </a:solidFill>
              </a:rPr>
              <a:t>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Python notebook supplied by instructors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algn="just"/>
            <a:endParaRPr lang="en-US" sz="2000" b="1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Poliformat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  download the 4.0._RESONATORS_RR_Student.ipynb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Either run locally or at Google Collaboratory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COMPONENT </a:t>
            </a:r>
            <a:r>
              <a:rPr lang="en-US" i="1" dirty="0"/>
              <a:t>to be studied: Ring Resonator (RR)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587C53-090A-7856-01C3-8DF4B6117FF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76800" y="3733800"/>
            <a:ext cx="1806892" cy="18059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B7F0FE-42CE-C0F8-07F5-9E10AE83A397}"/>
              </a:ext>
            </a:extLst>
          </p:cNvPr>
          <p:cNvSpPr txBox="1"/>
          <p:nvPr/>
        </p:nvSpPr>
        <p:spPr>
          <a:xfrm>
            <a:off x="3810000" y="5029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Input 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219806-75B7-FA7D-D6C3-2795B8A864CD}"/>
              </a:ext>
            </a:extLst>
          </p:cNvPr>
          <p:cNvSpPr txBox="1"/>
          <p:nvPr/>
        </p:nvSpPr>
        <p:spPr>
          <a:xfrm>
            <a:off x="7011989" y="500378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Output 0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CBB27E0-25DB-E25B-3A38-E88991BEFD59}"/>
              </a:ext>
            </a:extLst>
          </p:cNvPr>
          <p:cNvCxnSpPr/>
          <p:nvPr/>
        </p:nvCxnSpPr>
        <p:spPr>
          <a:xfrm flipV="1">
            <a:off x="4219656" y="5380655"/>
            <a:ext cx="4807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FDA5052-E384-3E91-99D0-455EA5EC86E0}"/>
              </a:ext>
            </a:extLst>
          </p:cNvPr>
          <p:cNvCxnSpPr/>
          <p:nvPr/>
        </p:nvCxnSpPr>
        <p:spPr>
          <a:xfrm flipV="1">
            <a:off x="6839585" y="5380655"/>
            <a:ext cx="4807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ASSESSMENT #1 </a:t>
            </a:r>
            <a:r>
              <a:rPr lang="en-US" sz="2500" dirty="0"/>
              <a:t>– Recap from theory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1.1. What happen when changing the value of the </a:t>
            </a:r>
            <a:r>
              <a:rPr lang="en-US" sz="2000" dirty="0" err="1"/>
              <a:t>n_g</a:t>
            </a:r>
            <a:r>
              <a:rPr lang="en-US" sz="2000" dirty="0"/>
              <a:t> (group index)?</a:t>
            </a:r>
          </a:p>
          <a:p>
            <a:endParaRPr lang="en-US" sz="2000" dirty="0"/>
          </a:p>
          <a:p>
            <a:r>
              <a:rPr lang="en-US" sz="2000" dirty="0"/>
              <a:t>1.2. How does propagation loss influence the response of the RR? (</a:t>
            </a:r>
            <a:r>
              <a:rPr lang="es-ES" sz="2000" dirty="0" err="1"/>
              <a:t>Translate</a:t>
            </a:r>
            <a:r>
              <a:rPr lang="es-ES" sz="2000" dirty="0"/>
              <a:t> natural </a:t>
            </a:r>
            <a:r>
              <a:rPr lang="es-ES" sz="2000" dirty="0" err="1"/>
              <a:t>units</a:t>
            </a:r>
            <a:r>
              <a:rPr lang="es-ES" sz="2000" dirty="0"/>
              <a:t> </a:t>
            </a:r>
            <a:r>
              <a:rPr lang="es-ES" sz="2000" dirty="0" err="1"/>
              <a:t>to</a:t>
            </a:r>
            <a:r>
              <a:rPr lang="es-ES" sz="2000" dirty="0"/>
              <a:t> dB/</a:t>
            </a:r>
            <a:r>
              <a:rPr lang="es-ES" sz="2000" dirty="0" err="1"/>
              <a:t>um</a:t>
            </a:r>
            <a:r>
              <a:rPr lang="es-ES" sz="2000" dirty="0"/>
              <a:t> </a:t>
            </a:r>
            <a:r>
              <a:rPr lang="es-ES" sz="2000" dirty="0" err="1"/>
              <a:t>units</a:t>
            </a:r>
            <a:r>
              <a:rPr lang="en-US" sz="2000" dirty="0"/>
              <a:t>)</a:t>
            </a:r>
          </a:p>
          <a:p>
            <a:endParaRPr lang="es-ES" sz="2000" dirty="0"/>
          </a:p>
          <a:p>
            <a:r>
              <a:rPr lang="en-US" sz="2000" dirty="0"/>
              <a:t> </a:t>
            </a:r>
          </a:p>
          <a:p>
            <a:pPr algn="just"/>
            <a:endParaRPr lang="en-US" sz="2000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  <a:p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ng, alpha, gamma, transfer function plots, etc.) and comment on the obtained results (in terms of FSR, amplitude, losses, etc.).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6ED4B2-0B29-CB96-44BE-E82C562C97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5AB88-A787-2C84-3A44-2B634D87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153D08B-B860-A163-3940-83AD6444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ASSESSMENT #2 </a:t>
            </a:r>
            <a:r>
              <a:rPr lang="en-US" sz="2500" dirty="0"/>
              <a:t>– </a:t>
            </a:r>
            <a:r>
              <a:rPr lang="es-ES" sz="2500" dirty="0"/>
              <a:t>SAX </a:t>
            </a:r>
            <a:r>
              <a:rPr lang="es-ES" sz="2500" dirty="0" err="1"/>
              <a:t>model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33888A9-82BA-4688-F856-37AB661A7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1891475-ED60-D0D2-1AD0-4F80E3D894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BBBE28D8-49EC-3B49-29AC-FD2FDAF3B0AF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Define a Ring Resonator SAX model for the structure depicted in Figure 2 including:</a:t>
            </a:r>
          </a:p>
          <a:p>
            <a:r>
              <a:rPr lang="en-US" sz="2000" dirty="0"/>
              <a:t>• A directional coupler.</a:t>
            </a:r>
          </a:p>
          <a:p>
            <a:r>
              <a:rPr lang="en-US" sz="2000" dirty="0"/>
              <a:t>• Straight and curved waveguide segments.</a:t>
            </a:r>
          </a:p>
          <a:p>
            <a:r>
              <a:rPr lang="en-US" sz="2000" dirty="0"/>
              <a:t>• Include parameters like coupling gap, bend radius, and the presence/absence of straight segments between bends.</a:t>
            </a:r>
          </a:p>
          <a:p>
            <a:endParaRPr lang="en-US" sz="2000" dirty="0"/>
          </a:p>
          <a:p>
            <a:r>
              <a:rPr lang="en-US" sz="2000" b="1" dirty="0"/>
              <a:t>2.1. </a:t>
            </a:r>
            <a:r>
              <a:rPr lang="en-US" sz="2000" dirty="0"/>
              <a:t>Check if there is any variation of having or not straight sections between bends. How does the bend radius influence then?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  <a:p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DBBA6B-3646-055F-7A9C-EE01830137BE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(copy here the code employed to obtain the transfer function employing SAX modeling and include the comparative plot of the models)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D861FE-0AF9-B53C-793D-2CA28CCA6A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</p:spTree>
    <p:extLst>
      <p:ext uri="{BB962C8B-B14F-4D97-AF65-F5344CB8AC3E}">
        <p14:creationId xmlns:p14="http://schemas.microsoft.com/office/powerpoint/2010/main" val="233709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9552-DF22-1310-10FA-4D2D2AF7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B0632A48-0384-0EF1-389E-FBF3F9C3E7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ASSESSMENT #3 </a:t>
            </a:r>
            <a:r>
              <a:rPr lang="en-US" sz="2500" dirty="0"/>
              <a:t>– SAX verification 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F43E6A6-5CC3-9B99-14AC-99747815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FC09DB6-1DF7-C8F9-7414-27BC280DEA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EBC8DCFA-5565-A757-1F8D-F4CCCF573A63}"/>
              </a:ext>
            </a:extLst>
          </p:cNvPr>
          <p:cNvSpPr txBox="1">
            <a:spLocks/>
          </p:cNvSpPr>
          <p:nvPr/>
        </p:nvSpPr>
        <p:spPr>
          <a:xfrm>
            <a:off x="571500" y="10668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Design a narrowband optical filter based on a RR with an 𝐹𝑆𝑅_𝜆0 = 14 𝑛𝑚 for a SOI cross-section of 450 nm x 220 nm (W x H). Compare the response obtained from both models (SAX model and formulation model) to verify the results. </a:t>
            </a:r>
          </a:p>
          <a:p>
            <a:endParaRPr lang="en-US" dirty="0">
              <a:solidFill>
                <a:srgbClr val="1F1F1F"/>
              </a:solidFill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(*Import the attached .txt file to get the corresponding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neff</a:t>
            </a: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 and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wvl</a:t>
            </a: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 data.)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  <a:p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4A2D6E-5993-52B3-D251-1ADF2B0C8355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(calculus of RR length, code, transfer function plot,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E4C4C3-1295-E1BC-FC2E-D6FBAC0AFA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</p:spTree>
    <p:extLst>
      <p:ext uri="{BB962C8B-B14F-4D97-AF65-F5344CB8AC3E}">
        <p14:creationId xmlns:p14="http://schemas.microsoft.com/office/powerpoint/2010/main" val="366643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1038</TotalTime>
  <Words>366</Words>
  <Application>Microsoft Office PowerPoint</Application>
  <PresentationFormat>Panorámica</PresentationFormat>
  <Paragraphs>67</Paragraphs>
  <Slides>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Lucida Sans</vt:lpstr>
      <vt:lpstr>Roboto</vt:lpstr>
      <vt:lpstr>Wingdings</vt:lpstr>
      <vt:lpstr>Office Theme</vt:lpstr>
      <vt:lpstr>Presentación de PowerPoint</vt:lpstr>
      <vt:lpstr>Instructions General</vt:lpstr>
      <vt:lpstr>ASSESSMENT #1 – Recap from theory</vt:lpstr>
      <vt:lpstr>ASSESSMENT #2 – SAX model </vt:lpstr>
      <vt:lpstr>ASSESSMENT #3 – SAX verification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Gloria Mico Cabanes</cp:lastModifiedBy>
  <cp:revision>16</cp:revision>
  <dcterms:created xsi:type="dcterms:W3CDTF">2025-01-27T02:46:57Z</dcterms:created>
  <dcterms:modified xsi:type="dcterms:W3CDTF">2025-10-27T16:22:24Z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